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Arial"/>
              </a:defRPr>
            </a:pPr>
            <a:r>
              <a:rPr sz="1100" b="0" i="0" u="none" strike="noStrike">
                <a:solidFill>
                  <a:srgbClr val="334155"/>
                </a:solidFill>
                <a:latin typeface="Arial"/>
              </a:rPr>
              <a:t>Latest Risk Score per Machine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Risk Score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ACC1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91B1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M-001
Healthy</c:v>
                  </c:pt>
                  <c:pt idx="1">
                    <c:v>M-002
Overheat</c:v>
                  </c:pt>
                  <c:pt idx="2">
                    <c:v>M-003
Bearing</c:v>
                  </c:pt>
                  <c:pt idx="3">
                    <c:v>M-004
Overdue</c:v>
                  </c:pt>
                  <c:pt idx="4">
                    <c:v>M-005
Cascade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47</c:v>
                </c:pt>
                <c:pt idx="2">
                  <c:v>61</c:v>
                </c:pt>
                <c:pt idx="3">
                  <c:v>79</c:v>
                </c:pt>
                <c:pt idx="4">
                  <c:v>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Arial"/>
              </a:defRPr>
            </a:pPr>
            <a:r>
              <a:rPr sz="1100" b="0" i="0" u="none" strike="noStrike">
                <a:solidFill>
                  <a:srgbClr val="334155"/>
                </a:solidFill>
                <a:latin typeface="Arial"/>
              </a:rPr>
              <a:t>Risk Level Distribution (All 450 Readings)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2C55E"/>
              </a:solidFill>
              <a:effectLst/>
            </c:spPr>
          </c:dPt>
          <c:dPt>
            <c:idx val="1"/>
            <c:bubble3D val="0"/>
            <c:spPr>
              <a:solidFill>
                <a:srgbClr val="FACC15"/>
              </a:solidFill>
              <a:effectLst/>
            </c:spPr>
          </c:dPt>
          <c:dPt>
            <c:idx val="2"/>
            <c:bubble3D val="0"/>
            <c:spPr>
              <a:solidFill>
                <a:srgbClr val="F97316"/>
              </a:solidFill>
              <a:effectLst/>
            </c:spPr>
          </c:dPt>
          <c:dPt>
            <c:idx val="3"/>
            <c:bubble3D val="0"/>
            <c:spPr>
              <a:solidFill>
                <a:srgbClr val="EF444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  <c:pt idx="3">
                  <c:v>Critical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32</c:v>
                </c:pt>
                <c:pt idx="1">
                  <c:v>28</c:v>
                </c:pt>
                <c:pt idx="2">
                  <c:v>24</c:v>
                </c:pt>
                <c:pt idx="3">
                  <c:v>16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This project addresses a real-world industrial problem: unplanned equipment failures. Our system combines sensor monitoring, AI risk scoring, and an LLM advisor to enable predictive maintenance at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problem: industrial teams react to failures rather than predict them. Unplanned downtime is extremely costly and avoidable. Three root challenges: reactive-only culture, inspection gaps, and data overload from multiple sensors.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pipeline follows a clean 5-step flow from raw sensor data to actionable LLM recommendation. Notice that all 4 required functionalities from the assignment are covered — shown at the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machine was designed with a distinct failure personality to make the demo visually dramatic. M-005 is the most interesting — its error rate accelerates over time, mimicking a real cascading degradation scenario.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risk engine is intentionally transparent and rule-based — this is important for maintenance engineers who need to trust and explain the output. Each sensor contributes a weighted sub-score, capped at 100. The LLM then layers interpretation on top of this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an important design decision: we use both rule-based AND ML-based anomaly detection. Rules give engineers transparency and trust. IsolationForest catches subtle combinations — like moderate temperature + moderate vibration + high errors simultaneously — that no single rule threshold would catch.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visualization layer gives maintenance engineers immediate situational awareness. The bar chart shows the current snapshot — M-004 and M-005 are clearly in the red. The pie chart shows the historical distribution. In the notebook, we also have trend lines over 30 days and a sensor heatmap.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LLM layer is what elevates this beyond a standard dashboard. Instead of just showing a risk score, Claude provides a structured 5-point plan in plain English. This makes the output actionable for any technician — not just data scientists.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covers all the interactive features. The What-If Simulator is particularly powerful for demos — live in Jupyter you can slide the temperature down for M-002 and immediately see the risk score drop across the fleet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live demo here. Walk through the 4 demo highlights in order — each one tells a clear story. The What-If simulator is the most impressive for the audience because they can see the effect of a maintenance intervention in real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Acknowledging limitations is a sign of academic maturity. The four limitations are genuine and clearly bounded — this is a prototype, not a production system. The future work roadmap shows you've thought about the gap between prototype and real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confidence. The key message: this is not just a script — it's a working, interactive, AI-powered decision system. The LLM doesn't replace the engineer; it makes the engineer faster and more confident in their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7132320" y="274320"/>
            <a:ext cx="1828800" cy="1828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594360"/>
            <a:ext cx="3291840" cy="292608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/>
        </p:spPr>
      </p:sp>
      <p:sp>
        <p:nvSpPr>
          <p:cNvPr id="4" name="Text 1"/>
          <p:cNvSpPr/>
          <p:nvPr/>
        </p:nvSpPr>
        <p:spPr>
          <a:xfrm>
            <a:off x="502920" y="5943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KNOWLEDGE ENGINEERING  ·  FINAL PROJECT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02920" y="105156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Equipment Maintenance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Decision System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502920" y="3063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9F6E4"/>
                </a:solidFill>
              </a:rPr>
              <a:t>AI-Powered Predictive Maintenance · Real-Time Risk Scoring · LLM Recommendations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3547872"/>
            <a:ext cx="5029200" cy="320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374904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2920" y="38221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5 Machines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2920" y="4160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monitored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715768" y="374904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715768" y="38221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450 Readings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715768" y="4160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30 days × 3/day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928616" y="374904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928616" y="38221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5 Sensors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928616" y="4160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per reading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141464" y="374904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141464" y="38221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Claude API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141464" y="4160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LLM advisor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A4A6A"/>
                </a:solidFill>
              </a:rPr>
              <a:t>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2359152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01  ·  PROBLEM STATEMENT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Cost of Doing Nothing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3977640" cy="1920240"/>
          </a:xfrm>
          <a:prstGeom prst="roundRect">
            <a:avLst>
              <a:gd name="adj" fmla="val 5714"/>
            </a:avLst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664208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AC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$260,000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02920" y="248716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F6E4"/>
                </a:solidFill>
              </a:rPr>
              <a:t>per hour of unplanned downtime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8346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Industry average, manufacturing sector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1572768"/>
            <a:ext cx="4160520" cy="566928"/>
          </a:xfrm>
          <a:prstGeom prst="roundRect">
            <a:avLst>
              <a:gd name="adj" fmla="val 12903"/>
            </a:avLst>
          </a:prstGeom>
          <a:solidFill>
            <a:srgbClr val="112240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664208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193792" y="160934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Reactive-Only Approach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193792" y="184708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Teams fix after failure; no early warning system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63440" y="2240280"/>
            <a:ext cx="4160520" cy="566928"/>
          </a:xfrm>
          <a:prstGeom prst="roundRect">
            <a:avLst>
              <a:gd name="adj" fmla="val 12903"/>
            </a:avLst>
          </a:prstGeom>
          <a:solidFill>
            <a:srgbClr val="112240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33172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93792" y="227685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Manual Inspection Gaps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193792" y="251460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Fixed schedules miss gradual degradation between visits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663440" y="2907792"/>
            <a:ext cx="4160520" cy="566928"/>
          </a:xfrm>
          <a:prstGeom prst="roundRect">
            <a:avLst>
              <a:gd name="adj" fmla="val 12903"/>
            </a:avLst>
          </a:prstGeom>
          <a:solidFill>
            <a:srgbClr val="112240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999232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93792" y="294436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Multi-Sensor Complexity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193792" y="318211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5+ sensor streams too complex to interpret manually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02920" y="3749040"/>
            <a:ext cx="82296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17"/>
          <p:cNvSpPr/>
          <p:nvPr/>
        </p:nvSpPr>
        <p:spPr>
          <a:xfrm>
            <a:off x="50292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</a:rPr>
              <a:t>Predictive maintenance can reduce unplanned downtime by up to 50% and cut maintenance costs by 25%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2359152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02  ·  SOLUTION 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Approach: From Data to Decision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1508760" cy="2194560"/>
          </a:xfrm>
          <a:prstGeom prst="roundRect">
            <a:avLst>
              <a:gd name="adj" fmla="val 7273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28700" y="1572768"/>
            <a:ext cx="457200" cy="45720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58648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1488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Input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248716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1FAF0"/>
                </a:solidFill>
              </a:rPr>
              <a:t>Sensor sliders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1FAF0"/>
                </a:solidFill>
              </a:rPr>
              <a:t>or CSV upload</a:t>
            </a:r>
            <a:endParaRPr lang="en-US" sz="9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2039112" y="2103120"/>
            <a:ext cx="256032" cy="2560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185416" y="1463040"/>
            <a:ext cx="1508760" cy="2194560"/>
          </a:xfrm>
          <a:prstGeom prst="roundRect">
            <a:avLst>
              <a:gd name="adj" fmla="val 7273"/>
            </a:avLst>
          </a:prstGeom>
          <a:solidFill>
            <a:srgbClr val="0D7A5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711196" y="1572768"/>
            <a:ext cx="457200" cy="45720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5768" y="1586484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185416" y="21488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Risk Scoring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2185416" y="248716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1FAF0"/>
                </a:solidFill>
              </a:rPr>
              <a:t>Rule-based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1FAF0"/>
                </a:solidFill>
              </a:rPr>
              <a:t>0–100 engine</a:t>
            </a:r>
            <a:endParaRPr lang="en-US" sz="9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3721608" y="2103120"/>
            <a:ext cx="256032" cy="25603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3867912" y="1463040"/>
            <a:ext cx="1508760" cy="2194560"/>
          </a:xfrm>
          <a:prstGeom prst="roundRect">
            <a:avLst>
              <a:gd name="adj" fmla="val 7273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4393692" y="1572768"/>
            <a:ext cx="457200" cy="45720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8264" y="1586484"/>
            <a:ext cx="438912" cy="43891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867912" y="21488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Anomaly ML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3867912" y="248716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1FAF0"/>
                </a:solidFill>
              </a:rPr>
              <a:t>IsolationForest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1FAF0"/>
                </a:solidFill>
              </a:rPr>
              <a:t>detection</a:t>
            </a:r>
            <a:endParaRPr lang="en-US" sz="9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>
            <a:alphaModFix amt="85000"/>
          </a:blip>
          <a:stretch>
            <a:fillRect/>
          </a:stretch>
        </p:blipFill>
        <p:spPr>
          <a:xfrm>
            <a:off x="5404104" y="2103120"/>
            <a:ext cx="256032" cy="256032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5550408" y="1463040"/>
            <a:ext cx="1508760" cy="2194560"/>
          </a:xfrm>
          <a:prstGeom prst="roundRect">
            <a:avLst>
              <a:gd name="adj" fmla="val 7273"/>
            </a:avLst>
          </a:prstGeom>
          <a:solidFill>
            <a:srgbClr val="B45309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6076188" y="1572768"/>
            <a:ext cx="457200" cy="45720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0760" y="1586484"/>
            <a:ext cx="438912" cy="43891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550408" y="21488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Visualization</a:t>
            </a:r>
            <a:endParaRPr lang="en-US" sz="1200" dirty="0"/>
          </a:p>
        </p:txBody>
      </p:sp>
      <p:sp>
        <p:nvSpPr>
          <p:cNvPr id="27" name="Text 18"/>
          <p:cNvSpPr/>
          <p:nvPr/>
        </p:nvSpPr>
        <p:spPr>
          <a:xfrm>
            <a:off x="5550408" y="248716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1FAF0"/>
                </a:solidFill>
              </a:rPr>
              <a:t>Trends, heatmap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1FAF0"/>
                </a:solidFill>
              </a:rPr>
              <a:t>&amp; dashboard</a:t>
            </a:r>
            <a:endParaRPr lang="en-US" sz="95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>
            <a:alphaModFix amt="85000"/>
          </a:blip>
          <a:stretch>
            <a:fillRect/>
          </a:stretch>
        </p:blipFill>
        <p:spPr>
          <a:xfrm>
            <a:off x="7086600" y="2103120"/>
            <a:ext cx="256032" cy="256032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7232904" y="1463040"/>
            <a:ext cx="1508760" cy="2194560"/>
          </a:xfrm>
          <a:prstGeom prst="roundRect">
            <a:avLst>
              <a:gd name="adj" fmla="val 7273"/>
            </a:avLst>
          </a:prstGeom>
          <a:solidFill>
            <a:srgbClr val="BE123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0" name="Shape 20"/>
          <p:cNvSpPr/>
          <p:nvPr/>
        </p:nvSpPr>
        <p:spPr>
          <a:xfrm>
            <a:off x="7758684" y="1572768"/>
            <a:ext cx="457200" cy="45720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63256" y="1586484"/>
            <a:ext cx="438912" cy="43891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7232904" y="21488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LLM Advisor</a:t>
            </a:r>
            <a:endParaRPr lang="en-US" sz="1200" dirty="0"/>
          </a:p>
        </p:txBody>
      </p:sp>
      <p:sp>
        <p:nvSpPr>
          <p:cNvPr id="33" name="Text 22"/>
          <p:cNvSpPr/>
          <p:nvPr/>
        </p:nvSpPr>
        <p:spPr>
          <a:xfrm>
            <a:off x="7232904" y="248716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1FAF0"/>
                </a:solidFill>
              </a:rPr>
              <a:t>Claude API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1FAF0"/>
                </a:solidFill>
              </a:rPr>
              <a:t>5-point plan</a:t>
            </a:r>
            <a:endParaRPr lang="en-US" sz="950" dirty="0"/>
          </a:p>
        </p:txBody>
      </p:sp>
      <p:sp>
        <p:nvSpPr>
          <p:cNvPr id="34" name="Text 23"/>
          <p:cNvSpPr/>
          <p:nvPr/>
        </p:nvSpPr>
        <p:spPr>
          <a:xfrm>
            <a:off x="502920" y="3840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Covers all 4 required functionalities:</a:t>
            </a:r>
            <a:endParaRPr lang="en-US" sz="110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920" y="4160520"/>
            <a:ext cx="201168" cy="201168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749808" y="415137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Data Input</a:t>
            </a:r>
            <a:endParaRPr lang="en-US" sz="1050" dirty="0"/>
          </a:p>
        </p:txBody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51760" y="4160520"/>
            <a:ext cx="201168" cy="201168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2898648" y="415137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Analysis &amp; Decision</a:t>
            </a:r>
            <a:endParaRPr lang="en-US" sz="1050" dirty="0"/>
          </a:p>
        </p:txBody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00600" y="4160520"/>
            <a:ext cx="201168" cy="201168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5047488" y="415137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Result Display</a:t>
            </a:r>
            <a:endParaRPr lang="en-US" sz="1050" dirty="0"/>
          </a:p>
        </p:txBody>
      </p:sp>
      <p:pic>
        <p:nvPicPr>
          <p:cNvPr id="4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49440" y="4160520"/>
            <a:ext cx="201168" cy="201168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7196328" y="415137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Parameter Interaction</a:t>
            </a:r>
            <a:endParaRPr lang="en-US" sz="1050" dirty="0"/>
          </a:p>
        </p:txBody>
      </p:sp>
      <p:sp>
        <p:nvSpPr>
          <p:cNvPr id="43" name="Text 28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2446020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2446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03  ·  DATA &amp; METHODOLOGY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Simulated Fleet: 5 Machines × 30 Days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8321040" cy="566928"/>
          </a:xfrm>
          <a:prstGeom prst="roundRect">
            <a:avLst>
              <a:gd name="adj" fmla="val 12903"/>
            </a:avLst>
          </a:prstGeom>
          <a:solidFill>
            <a:srgbClr val="112240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636776"/>
            <a:ext cx="219456" cy="21945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5087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M-001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91640" y="1508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Healthy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0" y="15087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All sensors within baseline norms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73736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↗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121408"/>
            <a:ext cx="8321040" cy="566928"/>
          </a:xfrm>
          <a:prstGeom prst="roundRect">
            <a:avLst>
              <a:gd name="adj" fmla="val 12903"/>
            </a:avLst>
          </a:prstGeom>
          <a:solidFill>
            <a:srgbClr val="112240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" y="2295144"/>
            <a:ext cx="219456" cy="21945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1671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M-002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91640" y="21671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Overheating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0" y="21671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Temp rises +0.9°C/day → 27°C over 30 days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3957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↗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2779776"/>
            <a:ext cx="8321040" cy="566928"/>
          </a:xfrm>
          <a:prstGeom prst="roundRect">
            <a:avLst>
              <a:gd name="adj" fmla="val 12903"/>
            </a:avLst>
          </a:prstGeom>
          <a:solidFill>
            <a:srgbClr val="112240"/>
          </a:solidFill>
          <a:ln/>
        </p:spPr>
      </p:sp>
      <p:sp>
        <p:nvSpPr>
          <p:cNvPr id="18" name="Shape 16"/>
          <p:cNvSpPr/>
          <p:nvPr/>
        </p:nvSpPr>
        <p:spPr>
          <a:xfrm>
            <a:off x="658368" y="2953512"/>
            <a:ext cx="219456" cy="219456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282549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M-003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691640" y="28254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Bearing Failure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40480" y="282549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Vibration spikes sharply in final 10 days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305409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↗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438144"/>
            <a:ext cx="8321040" cy="566928"/>
          </a:xfrm>
          <a:prstGeom prst="roundRect">
            <a:avLst>
              <a:gd name="adj" fmla="val 12903"/>
            </a:avLst>
          </a:prstGeom>
          <a:solidFill>
            <a:srgbClr val="112240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611880"/>
            <a:ext cx="219456" cy="219456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348386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M-004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691640" y="34838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Overdue Maintenance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840480" y="348386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Starts above 400h runtime; pressure elevated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0120" y="371246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↗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4096512"/>
            <a:ext cx="8321040" cy="566928"/>
          </a:xfrm>
          <a:prstGeom prst="roundRect">
            <a:avLst>
              <a:gd name="adj" fmla="val 12903"/>
            </a:avLst>
          </a:prstGeom>
          <a:solidFill>
            <a:srgbClr val="112240"/>
          </a:solidFill>
          <a:ln/>
        </p:spPr>
      </p:sp>
      <p:sp>
        <p:nvSpPr>
          <p:cNvPr id="30" name="Shape 28"/>
          <p:cNvSpPr/>
          <p:nvPr/>
        </p:nvSpPr>
        <p:spPr>
          <a:xfrm>
            <a:off x="658368" y="4270248"/>
            <a:ext cx="219456" cy="21945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960120" y="41422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M-005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691640" y="41422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Cascading Failure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840480" y="41422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Error rate accelerates as machine degrades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60120" y="437083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↗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" y="4663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 Sensor Dimensions: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491947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F6E4"/>
                </a:solidFill>
              </a:rPr>
              <a:t>🌡 Temperature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167128" y="491947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F6E4"/>
                </a:solidFill>
              </a:rPr>
              <a:t>📳 Vibration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831336" y="491947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F6E4"/>
                </a:solidFill>
              </a:rPr>
              <a:t>⏱ Runtime Hours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495544" y="491947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F6E4"/>
                </a:solidFill>
              </a:rPr>
              <a:t>⚙ Pressure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159752" y="491947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F6E4"/>
                </a:solidFill>
              </a:rPr>
              <a:t>⚠ Error Count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2185416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04  ·  DECISION ENGINE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Rule-Based Risk Scoring (0–100)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996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Temperature (°C)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68880" y="1499616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2468880" y="149961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max 35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18688" y="149961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&gt;95°C = 35 pts   ·   &gt;85°C = 20 pts   ·   &gt;75°C = 10 pts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1993392"/>
            <a:ext cx="804672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1579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Vibration (mm/s)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2157984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215798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max 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18688" y="21579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&gt;6.0 = 25 pts   ·   &gt;4.5 = 15 pts   ·   &gt;3.0 = 8 pts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2651760"/>
            <a:ext cx="804672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8163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Runtime Hours (hrs)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68880" y="2816352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EAB308"/>
          </a:solidFill>
          <a:ln/>
        </p:spPr>
      </p:sp>
      <p:sp>
        <p:nvSpPr>
          <p:cNvPr id="17" name="Text 15"/>
          <p:cNvSpPr/>
          <p:nvPr/>
        </p:nvSpPr>
        <p:spPr>
          <a:xfrm>
            <a:off x="2468880" y="281635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max 20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18688" y="281635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&gt;500 = 20 pts   ·   &gt;350 = 12 pts   ·   &gt;200 = 5 pts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3310128"/>
            <a:ext cx="804672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4747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Pressure (bar)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468880" y="3474720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2468880" y="347472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max 12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18688" y="34747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&gt;9.0 = 12 pts   ·   &gt;7.5 = 6 pts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3968496"/>
            <a:ext cx="804672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4133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Error Count (/24h)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468880" y="4133088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EC4899"/>
          </a:solidFill>
          <a:ln/>
        </p:spPr>
      </p:sp>
      <p:sp>
        <p:nvSpPr>
          <p:cNvPr id="27" name="Text 25"/>
          <p:cNvSpPr/>
          <p:nvPr/>
        </p:nvSpPr>
        <p:spPr>
          <a:xfrm>
            <a:off x="2468880" y="413308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max 8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18688" y="41330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&gt;8 = 8 pts   ·   &gt;4 = 4 pts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2920" y="46177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Risk Levels: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554480" y="4617720"/>
            <a:ext cx="169164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</p:sp>
      <p:sp>
        <p:nvSpPr>
          <p:cNvPr id="31" name="Text 29"/>
          <p:cNvSpPr/>
          <p:nvPr/>
        </p:nvSpPr>
        <p:spPr>
          <a:xfrm>
            <a:off x="1554480" y="46177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Low  0 – 24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456432" y="4617720"/>
            <a:ext cx="1691640" cy="274320"/>
          </a:xfrm>
          <a:prstGeom prst="roundRect">
            <a:avLst>
              <a:gd name="adj" fmla="val 20000"/>
            </a:avLst>
          </a:prstGeom>
          <a:solidFill>
            <a:srgbClr val="FACC15"/>
          </a:solidFill>
          <a:ln/>
        </p:spPr>
      </p:sp>
      <p:sp>
        <p:nvSpPr>
          <p:cNvPr id="33" name="Text 31"/>
          <p:cNvSpPr/>
          <p:nvPr/>
        </p:nvSpPr>
        <p:spPr>
          <a:xfrm>
            <a:off x="3456432" y="46177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Medium  25 – 49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358384" y="4617720"/>
            <a:ext cx="1691640" cy="27432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/>
        </p:spPr>
      </p:sp>
      <p:sp>
        <p:nvSpPr>
          <p:cNvPr id="35" name="Text 33"/>
          <p:cNvSpPr/>
          <p:nvPr/>
        </p:nvSpPr>
        <p:spPr>
          <a:xfrm>
            <a:off x="5358384" y="46177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High  50 – 74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260336" y="4617720"/>
            <a:ext cx="1691640" cy="27432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/>
        </p:spPr>
      </p:sp>
      <p:sp>
        <p:nvSpPr>
          <p:cNvPr id="37" name="Text 35"/>
          <p:cNvSpPr/>
          <p:nvPr/>
        </p:nvSpPr>
        <p:spPr>
          <a:xfrm>
            <a:off x="7260336" y="46177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Critical  75 – 100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2359152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05  ·  ANOMALY DETECTION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IsolationForest: Catching What Rules Miss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3977640" cy="2560320"/>
          </a:xfrm>
          <a:prstGeom prst="roundRect">
            <a:avLst>
              <a:gd name="adj" fmla="val 4286"/>
            </a:avLst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72768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61872" y="160934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sklearn IsolationForest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212848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32688" y="219456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DFA"/>
                </a:solidFill>
              </a:rPr>
              <a:t>Unsupervised anomaly detection — no labeled failure data needed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651760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32688" y="263347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DFA"/>
                </a:solidFill>
              </a:rPr>
              <a:t>Detects outliers across all 5 sensor dimensions simultaneously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090672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32688" y="307238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DFA"/>
                </a:solidFill>
              </a:rPr>
              <a:t>contamination = 0.07 flags top 7% unusual readings</a:t>
            </a:r>
            <a:endParaRPr lang="en-US" sz="10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529584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32688" y="351129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DFA"/>
                </a:solidFill>
              </a:rPr>
              <a:t>Catches subtle multi-sensor combinations rules would miss</a:t>
            </a:r>
            <a:endParaRPr lang="en-US" sz="1050" dirty="0"/>
          </a:p>
        </p:txBody>
      </p:sp>
      <p:sp>
        <p:nvSpPr>
          <p:cNvPr id="16" name="Shape 9"/>
          <p:cNvSpPr/>
          <p:nvPr/>
        </p:nvSpPr>
        <p:spPr>
          <a:xfrm>
            <a:off x="4663440" y="1444752"/>
            <a:ext cx="4160520" cy="749808"/>
          </a:xfrm>
          <a:prstGeom prst="roundRect">
            <a:avLst>
              <a:gd name="adj" fmla="val 12195"/>
            </a:avLst>
          </a:prstGeom>
          <a:solidFill>
            <a:srgbClr val="112240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0"/>
          <p:cNvSpPr/>
          <p:nvPr/>
        </p:nvSpPr>
        <p:spPr>
          <a:xfrm>
            <a:off x="4736592" y="1499616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450</a:t>
            </a:r>
            <a:endParaRPr lang="en-US" sz="3200" dirty="0"/>
          </a:p>
        </p:txBody>
      </p:sp>
      <p:sp>
        <p:nvSpPr>
          <p:cNvPr id="18" name="Text 11"/>
          <p:cNvSpPr/>
          <p:nvPr/>
        </p:nvSpPr>
        <p:spPr>
          <a:xfrm>
            <a:off x="5989320" y="151790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Total Readings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5989320" y="182880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 machines × 30 days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4663440" y="2313432"/>
            <a:ext cx="4160520" cy="749808"/>
          </a:xfrm>
          <a:prstGeom prst="roundRect">
            <a:avLst>
              <a:gd name="adj" fmla="val 12195"/>
            </a:avLst>
          </a:prstGeom>
          <a:solidFill>
            <a:srgbClr val="112240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1" name="Text 14"/>
          <p:cNvSpPr/>
          <p:nvPr/>
        </p:nvSpPr>
        <p:spPr>
          <a:xfrm>
            <a:off x="4736592" y="2368296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~31</a:t>
            </a:r>
            <a:endParaRPr lang="en-US" sz="3200" dirty="0"/>
          </a:p>
        </p:txBody>
      </p:sp>
      <p:sp>
        <p:nvSpPr>
          <p:cNvPr id="22" name="Text 15"/>
          <p:cNvSpPr/>
          <p:nvPr/>
        </p:nvSpPr>
        <p:spPr>
          <a:xfrm>
            <a:off x="5989320" y="238658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Anomalies Flagged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5989320" y="269748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≈ 7% of all readings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4663440" y="3182112"/>
            <a:ext cx="4160520" cy="749808"/>
          </a:xfrm>
          <a:prstGeom prst="roundRect">
            <a:avLst>
              <a:gd name="adj" fmla="val 12195"/>
            </a:avLst>
          </a:prstGeom>
          <a:solidFill>
            <a:srgbClr val="112240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5" name="Text 18"/>
          <p:cNvSpPr/>
          <p:nvPr/>
        </p:nvSpPr>
        <p:spPr>
          <a:xfrm>
            <a:off x="4736592" y="3236976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200" dirty="0"/>
          </a:p>
        </p:txBody>
      </p:sp>
      <p:sp>
        <p:nvSpPr>
          <p:cNvPr id="26" name="Text 19"/>
          <p:cNvSpPr/>
          <p:nvPr/>
        </p:nvSpPr>
        <p:spPr>
          <a:xfrm>
            <a:off x="5989320" y="325526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Feature Dimensions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5989320" y="356616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all sensors combined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502920" y="4160520"/>
            <a:ext cx="8321040" cy="640080"/>
          </a:xfrm>
          <a:prstGeom prst="roundRect">
            <a:avLst>
              <a:gd name="adj" fmla="val 14286"/>
            </a:avLst>
          </a:prstGeom>
          <a:solidFill>
            <a:srgbClr val="0C2A1A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270248"/>
            <a:ext cx="320040" cy="32004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097280" y="4224528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F6E4"/>
                </a:solidFill>
              </a:rPr>
              <a:t>Design rationale: Rule-based scoring = explainability for engineers. IsolationForest = catches complex multi-sensor anomalies that no single threshold could detect. The two systems are complementary.</a:t>
            </a:r>
            <a:endParaRPr lang="en-US" sz="1050" dirty="0"/>
          </a:p>
        </p:txBody>
      </p:sp>
      <p:sp>
        <p:nvSpPr>
          <p:cNvPr id="31" name="Text 23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2098548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20985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06  ·  VISUALIZATIONS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Four-Panel Fleet Health Dashboard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417320"/>
          <a:ext cx="4206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892040" y="1417320"/>
          <a:ext cx="38862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502920" y="47548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Additional charts: 30-day trend lines · Anomaly scatter (Temp vs Vibration) · Sensor heatmap (normalized, green→red)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2185416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07  ·  LLM INTEGRATION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 Advisor: Offline Expert System + Optional Claude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3977640" cy="3154680"/>
          </a:xfrm>
          <a:prstGeom prst="roundRect">
            <a:avLst>
              <a:gd name="adj" fmla="val 3478"/>
            </a:avLst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15361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Prompt Structure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658368" y="1920240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90195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DFA"/>
                </a:solidFill>
              </a:rPr>
              <a:t>Equipment ID &amp; profile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658368" y="2395728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237744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DFA"/>
                </a:solidFill>
              </a:rPr>
              <a:t>Risk Score (0–100) + level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658368" y="2871216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4400" y="285292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DFA"/>
                </a:solidFill>
              </a:rPr>
              <a:t>All 5 sensor readings</a:t>
            </a:r>
            <a:endParaRPr lang="en-US" sz="10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658368" y="3346704"/>
            <a:ext cx="182880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14400" y="332841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DFA"/>
                </a:solidFill>
              </a:rPr>
              <a:t>Rule-based flags raised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658368" y="3822192"/>
            <a:ext cx="182880" cy="1828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14400" y="380390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DFA"/>
                </a:solidFill>
              </a:rPr>
              <a:t>Request: structured 5-point plan</a:t>
            </a:r>
            <a:endParaRPr lang="en-US" sz="1050" dirty="0"/>
          </a:p>
        </p:txBody>
      </p:sp>
      <p:sp>
        <p:nvSpPr>
          <p:cNvPr id="17" name="Shape 10"/>
          <p:cNvSpPr/>
          <p:nvPr/>
        </p:nvSpPr>
        <p:spPr>
          <a:xfrm>
            <a:off x="658368" y="4187952"/>
            <a:ext cx="3657600" cy="182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1"/>
          <p:cNvSpPr/>
          <p:nvPr/>
        </p:nvSpPr>
        <p:spPr>
          <a:xfrm>
            <a:off x="658368" y="42519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Default: built-in offline expert system (no API key)  ·  Optional: claude-sonnet-4-6</a:t>
            </a:r>
            <a:endParaRPr lang="en-US" sz="900" dirty="0"/>
          </a:p>
        </p:txBody>
      </p:sp>
      <p:sp>
        <p:nvSpPr>
          <p:cNvPr id="19" name="Shape 12"/>
          <p:cNvSpPr/>
          <p:nvPr/>
        </p:nvSpPr>
        <p:spPr>
          <a:xfrm>
            <a:off x="4663440" y="1444752"/>
            <a:ext cx="4160520" cy="3154680"/>
          </a:xfrm>
          <a:prstGeom prst="roundRect">
            <a:avLst>
              <a:gd name="adj" fmla="val 3478"/>
            </a:avLst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3"/>
          <p:cNvSpPr/>
          <p:nvPr/>
        </p:nvSpPr>
        <p:spPr>
          <a:xfrm>
            <a:off x="4818888" y="15361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Structured Output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4818888" y="1929384"/>
            <a:ext cx="228600" cy="228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15"/>
          <p:cNvSpPr/>
          <p:nvPr/>
        </p:nvSpPr>
        <p:spPr>
          <a:xfrm>
            <a:off x="4818888" y="19293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5120640" y="19293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ROOT CAUSE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6967728" y="1929384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What is causing the elevated risk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4818888" y="2404872"/>
            <a:ext cx="228600" cy="228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19"/>
          <p:cNvSpPr/>
          <p:nvPr/>
        </p:nvSpPr>
        <p:spPr>
          <a:xfrm>
            <a:off x="4818888" y="2404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5120640" y="2404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IMMEDIATE ACTION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6967728" y="2404872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Specific step to take right now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4818888" y="2880360"/>
            <a:ext cx="228600" cy="228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0" name="Text 23"/>
          <p:cNvSpPr/>
          <p:nvPr/>
        </p:nvSpPr>
        <p:spPr>
          <a:xfrm>
            <a:off x="4818888" y="28803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31" name="Text 24"/>
          <p:cNvSpPr/>
          <p:nvPr/>
        </p:nvSpPr>
        <p:spPr>
          <a:xfrm>
            <a:off x="5120640" y="2880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MAINTENANCE PLAN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6967728" y="2880360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Schedule for next 7 days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4818888" y="3355848"/>
            <a:ext cx="228600" cy="228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4" name="Text 27"/>
          <p:cNvSpPr/>
          <p:nvPr/>
        </p:nvSpPr>
        <p:spPr>
          <a:xfrm>
            <a:off x="4818888" y="33558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35" name="Text 28"/>
          <p:cNvSpPr/>
          <p:nvPr/>
        </p:nvSpPr>
        <p:spPr>
          <a:xfrm>
            <a:off x="5120640" y="33558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EST. DOWNTIME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6967728" y="3355848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Expected hours if maintenance needed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4818888" y="3831336"/>
            <a:ext cx="228600" cy="228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8" name="Text 31"/>
          <p:cNvSpPr/>
          <p:nvPr/>
        </p:nvSpPr>
        <p:spPr>
          <a:xfrm>
            <a:off x="4818888" y="383133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5</a:t>
            </a:r>
            <a:endParaRPr lang="en-US" sz="950" dirty="0"/>
          </a:p>
        </p:txBody>
      </p:sp>
      <p:sp>
        <p:nvSpPr>
          <p:cNvPr id="39" name="Text 32"/>
          <p:cNvSpPr/>
          <p:nvPr/>
        </p:nvSpPr>
        <p:spPr>
          <a:xfrm>
            <a:off x="5120640" y="38313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RISK IF IGNORED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6967728" y="3831336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Consequences without intervention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2706624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08  ·  PARAMETER INTERACTION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Exploration &amp; What-If 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4069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7512" y="16459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6420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64592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</a:rPr>
              <a:t>Live Sensor Input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67512" y="2139696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 sliders + machine selector let users enter real-time readings. Risk score updates instantly with color-coded alert badge.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1481328"/>
            <a:ext cx="4069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19472" y="1645920"/>
            <a:ext cx="502920" cy="502920"/>
          </a:xfrm>
          <a:prstGeom prst="ellipse">
            <a:avLst/>
          </a:prstGeom>
          <a:solidFill>
            <a:srgbClr val="0D7A5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6420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32120" y="164592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</a:rPr>
              <a:t>Multi-Metric Explorer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919472" y="2139696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Select machines, choose metric (risk, temperature, vibration…), set date range, adjust thresholds. Renders trend + box plot.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02920" y="3035808"/>
            <a:ext cx="4069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67512" y="3200400"/>
            <a:ext cx="502920" cy="502920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218688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320040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</a:rPr>
              <a:t>What-If Simulator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67512" y="3694176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Ask: 'What if I reduce M-002 temperature by 15°C?' Shows risk score Δ for every machine — immediate intervention impact.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754880" y="3035808"/>
            <a:ext cx="4069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919472" y="320040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218688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32120" y="320040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</a:rPr>
              <a:t>Batch LLM Mode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919472" y="3694176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One click generates Claude maintenance recommendations for ALL Critical and High machines simultaneously.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490472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09  ·  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Results at a Glance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991B1B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5544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/ 5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02920" y="223113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D9D9"/>
                </a:solidFill>
              </a:rPr>
              <a:t>Machines Requiring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D9D9"/>
                </a:solidFill>
              </a:rPr>
              <a:t>Immediate Action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743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AAAA"/>
                </a:solidFill>
              </a:rPr>
              <a:t>M-004 Critical · M-005 Critical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5544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~31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291840" y="223113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D9D9"/>
                </a:solidFill>
              </a:rPr>
              <a:t>Anomalies Detected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D9D9"/>
                </a:solidFill>
              </a:rPr>
              <a:t>by IsolationForest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2743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AAAA"/>
                </a:solidFill>
              </a:rPr>
              <a:t>7% of all 450 readings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080760" y="14630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80760" y="15544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080760" y="223113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D9D9"/>
                </a:solidFill>
              </a:rPr>
              <a:t>Assignment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D9D9"/>
                </a:solidFill>
              </a:rPr>
              <a:t>Functionalities Covered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80760" y="2743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AAAA"/>
                </a:solidFill>
              </a:rPr>
              <a:t>Input · Analysis · Display · Interact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3337560"/>
            <a:ext cx="8321040" cy="1417320"/>
          </a:xfrm>
          <a:prstGeom prst="roundRect">
            <a:avLst>
              <a:gd name="adj" fmla="val 7742"/>
            </a:avLst>
          </a:prstGeom>
          <a:solidFill>
            <a:srgbClr val="11224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4290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Demo Highlights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376732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DFA"/>
                </a:solidFill>
              </a:rPr>
              <a:t>① M-005 trend chart — 30-day degradation arc with clear slope acceleration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399592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DFA"/>
                </a:solidFill>
              </a:rPr>
              <a:t>② Batch LLM button — Claude generates 5-point plans for all Critical/High machines in seconds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422452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DFA"/>
                </a:solidFill>
              </a:rPr>
              <a:t>③ What-If: reduce M-002 temperature −15°C → risk score drops from 47 to 8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445312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DFA"/>
                </a:solidFill>
              </a:rPr>
              <a:t>④ Section 7 summary — live KPI dashboard renders as slide-ready panel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3054096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10  ·  LIMITATIONS &amp; FUTURE WORK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Assessment &amp; Roadmap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Current Limitations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3977640" cy="658368"/>
          </a:xfrm>
          <a:prstGeom prst="roundRect">
            <a:avLst>
              <a:gd name="adj" fmla="val 11111"/>
            </a:avLst>
          </a:prstGeom>
          <a:solidFill>
            <a:srgbClr val="FFF1F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984248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1837944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</a:rPr>
              <a:t>Simulated Data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32688" y="2093976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Real deployment would connect to MQTT or OPC-UA sensor streams for live readings from actual machines.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02920" y="2532888"/>
            <a:ext cx="3977640" cy="658368"/>
          </a:xfrm>
          <a:prstGeom prst="roundRect">
            <a:avLst>
              <a:gd name="adj" fmla="val 11111"/>
            </a:avLst>
          </a:prstGeom>
          <a:solidFill>
            <a:srgbClr val="FFF1F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734056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32688" y="2587752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</a:rPr>
              <a:t>Hardcoded Thresholds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932688" y="2843784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Risk rules are expert-defined. A production system would learn optimal thresholds from historical failure logs.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02920" y="3282696"/>
            <a:ext cx="3977640" cy="658368"/>
          </a:xfrm>
          <a:prstGeom prst="roundRect">
            <a:avLst>
              <a:gd name="adj" fmla="val 11111"/>
            </a:avLst>
          </a:prstGeom>
          <a:solidFill>
            <a:srgbClr val="FFF1F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483864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32688" y="333756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</a:rPr>
              <a:t>No Persistence Layer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932688" y="3593592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LLM recommendations aren't saved. A maintenance log database (PostgreSQL, SQLite) is needed for production.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502920" y="4032504"/>
            <a:ext cx="3977640" cy="658368"/>
          </a:xfrm>
          <a:prstGeom prst="roundRect">
            <a:avLst>
              <a:gd name="adj" fmla="val 11111"/>
            </a:avLst>
          </a:prstGeom>
          <a:solidFill>
            <a:srgbClr val="FFF1F2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4233672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32688" y="4087368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</a:rPr>
              <a:t>No Push Alerting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932688" y="4343400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SMS/email notifications for Critical machines would add real-world operational value and urgency.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4663440" y="14173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Future Improvements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663440" y="1783080"/>
            <a:ext cx="4160520" cy="658368"/>
          </a:xfrm>
          <a:prstGeom prst="roundRect">
            <a:avLst>
              <a:gd name="adj" fmla="val 11111"/>
            </a:avLst>
          </a:prstGeom>
          <a:solidFill>
            <a:srgbClr val="F0FDF4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2312" y="1984248"/>
            <a:ext cx="21945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102352" y="18379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</a:rPr>
              <a:t>MQTT / OPC-UA Integration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5102352" y="209397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Connect to real industrial sensor protocols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4663440" y="2532888"/>
            <a:ext cx="4160520" cy="658368"/>
          </a:xfrm>
          <a:prstGeom prst="roundRect">
            <a:avLst>
              <a:gd name="adj" fmla="val 11111"/>
            </a:avLst>
          </a:prstGeom>
          <a:solidFill>
            <a:srgbClr val="F0FDF4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2312" y="2734056"/>
            <a:ext cx="219456" cy="21945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102352" y="25877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</a:rPr>
              <a:t>Adaptive Threshold Learning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5102352" y="284378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ML model learns failure patterns from history</a:t>
            </a:r>
            <a:endParaRPr lang="en-US" sz="950" dirty="0"/>
          </a:p>
        </p:txBody>
      </p:sp>
      <p:sp>
        <p:nvSpPr>
          <p:cNvPr id="31" name="Shape 23"/>
          <p:cNvSpPr/>
          <p:nvPr/>
        </p:nvSpPr>
        <p:spPr>
          <a:xfrm>
            <a:off x="4663440" y="3282696"/>
            <a:ext cx="4160520" cy="658368"/>
          </a:xfrm>
          <a:prstGeom prst="roundRect">
            <a:avLst>
              <a:gd name="adj" fmla="val 11111"/>
            </a:avLst>
          </a:prstGeom>
          <a:solidFill>
            <a:srgbClr val="F0FDF4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2312" y="3483864"/>
            <a:ext cx="219456" cy="219456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102352" y="33375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</a:rPr>
              <a:t>Maintenance Log Database</a:t>
            </a:r>
            <a:endParaRPr lang="en-US" sz="1100" dirty="0"/>
          </a:p>
        </p:txBody>
      </p:sp>
      <p:sp>
        <p:nvSpPr>
          <p:cNvPr id="34" name="Text 25"/>
          <p:cNvSpPr/>
          <p:nvPr/>
        </p:nvSpPr>
        <p:spPr>
          <a:xfrm>
            <a:off x="5102352" y="359359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Persist all decisions and LLM recommendations</a:t>
            </a:r>
            <a:endParaRPr lang="en-US" sz="950" dirty="0"/>
          </a:p>
        </p:txBody>
      </p:sp>
      <p:sp>
        <p:nvSpPr>
          <p:cNvPr id="35" name="Shape 26"/>
          <p:cNvSpPr/>
          <p:nvPr/>
        </p:nvSpPr>
        <p:spPr>
          <a:xfrm>
            <a:off x="4663440" y="4032504"/>
            <a:ext cx="4160520" cy="658368"/>
          </a:xfrm>
          <a:prstGeom prst="roundRect">
            <a:avLst>
              <a:gd name="adj" fmla="val 11111"/>
            </a:avLst>
          </a:prstGeom>
          <a:solidFill>
            <a:srgbClr val="F0FDF4"/>
          </a:solidFill>
          <a:ln/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2312" y="4233672"/>
            <a:ext cx="219456" cy="219456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5102352" y="40873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</a:rPr>
              <a:t>Push Alert Layer</a:t>
            </a:r>
            <a:endParaRPr lang="en-US" sz="1100" dirty="0"/>
          </a:p>
        </p:txBody>
      </p:sp>
      <p:sp>
        <p:nvSpPr>
          <p:cNvPr id="38" name="Text 28"/>
          <p:cNvSpPr/>
          <p:nvPr/>
        </p:nvSpPr>
        <p:spPr>
          <a:xfrm>
            <a:off x="5102352" y="434340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SMS/email/Slack for Critical machines</a:t>
            </a:r>
            <a:endParaRPr lang="en-US" sz="950" dirty="0"/>
          </a:p>
        </p:txBody>
      </p:sp>
      <p:sp>
        <p:nvSpPr>
          <p:cNvPr id="39" name="Text 29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7132320" y="1097280"/>
            <a:ext cx="1645920" cy="1645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/>
        </p:spPr>
      </p:sp>
      <p:sp>
        <p:nvSpPr>
          <p:cNvPr id="4" name="Text 1"/>
          <p:cNvSpPr/>
          <p:nvPr/>
        </p:nvSpPr>
        <p:spPr>
          <a:xfrm>
            <a:off x="502920" y="41148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CONCLUSION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02920" y="804672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 &amp; What We Learned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502920" y="1901952"/>
            <a:ext cx="8275320" cy="475488"/>
          </a:xfrm>
          <a:prstGeom prst="roundRect">
            <a:avLst>
              <a:gd name="adj" fmla="val 15385"/>
            </a:avLst>
          </a:prstGeom>
          <a:solidFill>
            <a:srgbClr val="11224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20824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24128" y="199339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DFA"/>
                </a:solidFill>
              </a:rPr>
              <a:t>A complete Python + Jupyter decision-making application covering all 4 required functionalities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02920" y="2450592"/>
            <a:ext cx="8275320" cy="475488"/>
          </a:xfrm>
          <a:prstGeom prst="roundRect">
            <a:avLst>
              <a:gd name="adj" fmla="val 15385"/>
            </a:avLst>
          </a:prstGeom>
          <a:solidFill>
            <a:srgbClr val="112240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9464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24128" y="254203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DFA"/>
                </a:solidFill>
              </a:rPr>
              <a:t>Rule-based risk scoring + ML anomaly detection = explainability AND sensitivity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02920" y="2999232"/>
            <a:ext cx="8275320" cy="475488"/>
          </a:xfrm>
          <a:prstGeom prst="roundRect">
            <a:avLst>
              <a:gd name="adj" fmla="val 15385"/>
            </a:avLst>
          </a:prstGeom>
          <a:solidFill>
            <a:srgbClr val="112240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118104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24128" y="309067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DFA"/>
                </a:solidFill>
              </a:rPr>
              <a:t>LLM (Claude) elevates a dashboard into a plain-English advisor — making results actionable for anyone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502920" y="3547872"/>
            <a:ext cx="8275320" cy="475488"/>
          </a:xfrm>
          <a:prstGeom prst="roundRect">
            <a:avLst>
              <a:gd name="adj" fmla="val 15385"/>
            </a:avLst>
          </a:prstGeom>
          <a:solidFill>
            <a:srgbClr val="112240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666744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24128" y="363931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DFA"/>
                </a:solidFill>
              </a:rPr>
              <a:t>What-If analysis enables proactive planning: interventions can be simulated before committing</a:t>
            </a:r>
            <a:endParaRPr lang="en-US" sz="1100" dirty="0"/>
          </a:p>
        </p:txBody>
      </p:sp>
      <p:sp>
        <p:nvSpPr>
          <p:cNvPr id="18" name="Shape 11"/>
          <p:cNvSpPr/>
          <p:nvPr/>
        </p:nvSpPr>
        <p:spPr>
          <a:xfrm>
            <a:off x="502920" y="4096512"/>
            <a:ext cx="8275320" cy="475488"/>
          </a:xfrm>
          <a:prstGeom prst="roundRect">
            <a:avLst>
              <a:gd name="adj" fmla="val 15385"/>
            </a:avLst>
          </a:prstGeom>
          <a:solidFill>
            <a:srgbClr val="112240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4215384"/>
            <a:ext cx="256032" cy="25603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024128" y="418795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DFA"/>
                </a:solidFill>
              </a:rPr>
              <a:t>Modular architecture makes real-world extension (MQTT, DB, alerts) straightforward</a:t>
            </a:r>
            <a:endParaRPr lang="en-US" sz="1100" dirty="0"/>
          </a:p>
        </p:txBody>
      </p:sp>
      <p:sp>
        <p:nvSpPr>
          <p:cNvPr id="21" name="Shape 13"/>
          <p:cNvSpPr/>
          <p:nvPr/>
        </p:nvSpPr>
        <p:spPr>
          <a:xfrm>
            <a:off x="502920" y="4681728"/>
            <a:ext cx="54864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14"/>
          <p:cNvSpPr/>
          <p:nvPr/>
        </p:nvSpPr>
        <p:spPr>
          <a:xfrm>
            <a:off x="502920" y="47548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9F6E4"/>
                </a:solidFill>
              </a:rPr>
              <a:t>Thank you  ·  Questions welcome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A4A6A"/>
                </a:solidFill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Equipment Maintenance Decision System</dc:title>
  <dc:subject>PptxGenJS Presentation</dc:subject>
  <dc:creator>Knowledge Engineering</dc:creator>
  <cp:lastModifiedBy>Knowledge Engineering</cp:lastModifiedBy>
  <cp:revision>1</cp:revision>
  <dcterms:created xsi:type="dcterms:W3CDTF">2026-06-14T11:33:43Z</dcterms:created>
  <dcterms:modified xsi:type="dcterms:W3CDTF">2026-06-14T11:33:43Z</dcterms:modified>
</cp:coreProperties>
</file>